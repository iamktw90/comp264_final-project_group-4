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2" r:id="rId14"/>
    <p:sldId id="268" r:id="rId15"/>
    <p:sldId id="269" r:id="rId16"/>
    <p:sldId id="270" r:id="rId17"/>
    <p:sldId id="271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56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3869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8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COMP264 · GROUP 4 FINAL PROJECT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5486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AI-Powered</a:t>
            </a:r>
            <a:endParaRPr lang="en-US" sz="4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Identification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Catalog Generator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520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 Hamoleila  ·  Teawo Kim  ·  Syed Hussain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83680" y="914400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1E2F40"/>
          </a:solidFill>
          <a:ln w="1905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83680" y="914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583680" y="1572768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1E2F40"/>
          </a:solidFill>
          <a:ln w="1905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83680" y="157276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Rekognition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0" y="2231136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1E2F40"/>
          </a:solidFill>
          <a:ln w="1905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83680" y="2231136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83680" y="2889504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1E2F40"/>
          </a:solidFill>
          <a:ln w="1905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83680" y="2889504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83680" y="3547872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1E2F40"/>
          </a:solidFill>
          <a:ln w="1905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83680" y="354787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Chalice</a:t>
            </a:r>
            <a:endParaRPr lang="en-US" sz="13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4206240"/>
            <a:ext cx="457200" cy="4572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452360" y="422452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 Services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114800" cy="960120"/>
          </a:xfrm>
          <a:prstGeom prst="rect">
            <a:avLst/>
          </a:prstGeom>
          <a:solidFill>
            <a:srgbClr val="1E2F40"/>
          </a:solidFill>
          <a:ln w="12700">
            <a:solidFill>
              <a:srgbClr val="00A896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49047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43000" y="150876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Rationale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43000" y="19202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challenges solved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4114800" cy="960120"/>
          </a:xfrm>
          <a:prstGeom prst="rect">
            <a:avLst/>
          </a:prstGeom>
          <a:solidFill>
            <a:srgbClr val="1E2F40"/>
          </a:solidFill>
          <a:ln w="12700">
            <a:solidFill>
              <a:srgbClr val="00A896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263347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143000" y="265176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30632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design overview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703320"/>
            <a:ext cx="4114800" cy="960120"/>
          </a:xfrm>
          <a:prstGeom prst="rect">
            <a:avLst/>
          </a:prstGeom>
          <a:solidFill>
            <a:srgbClr val="1E2F40"/>
          </a:solidFill>
          <a:ln w="12700">
            <a:solidFill>
              <a:srgbClr val="00A896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377647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143000" y="379476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Documents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43000" y="42062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cases, interactions, UI flow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0" y="1417320"/>
            <a:ext cx="4114800" cy="960120"/>
          </a:xfrm>
          <a:prstGeom prst="rect">
            <a:avLst/>
          </a:prstGeom>
          <a:solidFill>
            <a:srgbClr val="1E2F40"/>
          </a:solidFill>
          <a:ln w="12700">
            <a:solidFill>
              <a:srgbClr val="00A896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83480" y="149047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623560" y="150876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&amp; Code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623560" y="19202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Backend, API, frontend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46320" y="2560320"/>
            <a:ext cx="4114800" cy="960120"/>
          </a:xfrm>
          <a:prstGeom prst="rect">
            <a:avLst/>
          </a:prstGeom>
          <a:solidFill>
            <a:srgbClr val="1E2F40"/>
          </a:solidFill>
          <a:ln w="12700">
            <a:solidFill>
              <a:srgbClr val="00A896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83480" y="263347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623560" y="265176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&amp; Testing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623560" y="30632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with real product images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3703320"/>
            <a:ext cx="4114800" cy="960120"/>
          </a:xfrm>
          <a:prstGeom prst="rect">
            <a:avLst/>
          </a:prstGeom>
          <a:solidFill>
            <a:srgbClr val="1E2F40"/>
          </a:solidFill>
          <a:ln w="12700">
            <a:solidFill>
              <a:srgbClr val="00A896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83480" y="377647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623560" y="379476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&amp; Conclusion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623560" y="42062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Enhancements &amp; lessons learned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RATIONALE &amp; SCOPE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 Solve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3931920" cy="1005840"/>
          </a:xfrm>
          <a:prstGeom prst="rect">
            <a:avLst/>
          </a:prstGeom>
          <a:solidFill>
            <a:srgbClr val="1E2F40"/>
          </a:solidFill>
          <a:ln w="12700">
            <a:solidFill>
              <a:srgbClr val="FF9900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9047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30759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Catalog Work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51560" y="1673352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SMBs spend hours manually writing product descriptions for e-commerce listings.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65760" y="2404872"/>
            <a:ext cx="3931920" cy="1005840"/>
          </a:xfrm>
          <a:prstGeom prst="rect">
            <a:avLst/>
          </a:prstGeom>
          <a:solidFill>
            <a:srgbClr val="1E2F40"/>
          </a:solidFill>
          <a:ln w="12700">
            <a:solidFill>
              <a:srgbClr val="FF9900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660904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51560" y="2478024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Barriers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051560" y="2843784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product catalogs are English-only, missing global markets.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365760" y="3575304"/>
            <a:ext cx="3931920" cy="1005840"/>
          </a:xfrm>
          <a:prstGeom prst="rect">
            <a:avLst/>
          </a:prstGeom>
          <a:solidFill>
            <a:srgbClr val="1E2F40"/>
          </a:solidFill>
          <a:ln w="12700">
            <a:solidFill>
              <a:srgbClr val="FF9900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831336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51560" y="3648456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Time-to-Market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051560" y="4014216"/>
            <a:ext cx="3108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translation and classification is error-prone and costly.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4663440" y="1097280"/>
            <a:ext cx="4114800" cy="3566160"/>
          </a:xfrm>
          <a:prstGeom prst="rect">
            <a:avLst/>
          </a:prstGeom>
          <a:solidFill>
            <a:srgbClr val="1E2F40"/>
          </a:solidFill>
          <a:ln w="19050">
            <a:solidFill>
              <a:srgbClr val="00A896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4846320" y="11887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4846320" y="16002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serverless AI app that:</a:t>
            </a:r>
            <a:endParaRPr lang="en-US" sz="13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1965960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166360" y="193852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product image uploads</a:t>
            </a:r>
            <a:endParaRPr lang="en-US" sz="125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2395728"/>
            <a:ext cx="256032" cy="25603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166360" y="236829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labels via Amazon Rekognition</a:t>
            </a:r>
            <a:endParaRPr lang="en-US" sz="125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2825496"/>
            <a:ext cx="256032" cy="25603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166360" y="279806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to Korean, Spanish &amp; French</a:t>
            </a:r>
            <a:endParaRPr lang="en-US" sz="1250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255264"/>
            <a:ext cx="256032" cy="256032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5166360" y="322783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results in DynamoDB</a:t>
            </a:r>
            <a:endParaRPr lang="en-US" sz="125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685032"/>
            <a:ext cx="256032" cy="256032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5166360" y="36576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images on Amazon S3</a:t>
            </a:r>
            <a:endParaRPr lang="en-US" sz="1250" dirty="0"/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4114800"/>
            <a:ext cx="256032" cy="256032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5166360" y="408736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REST API via AWS Chalice</a:t>
            </a:r>
            <a:endParaRPr lang="en-US" sz="1250" dirty="0"/>
          </a:p>
        </p:txBody>
      </p:sp>
      <p:sp>
        <p:nvSpPr>
          <p:cNvPr id="32" name="Shape 21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SYSTEM DESIGN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2600" dirty="0"/>
          </a:p>
        </p:txBody>
      </p:sp>
      <p:pic>
        <p:nvPicPr>
          <p:cNvPr id="5" name="Image 0" descr="/home/claude/Architecture_diagram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51560"/>
            <a:ext cx="8595360" cy="3749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SYSTEM DESIGN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8412480" cy="658368"/>
          </a:xfrm>
          <a:prstGeom prst="rect">
            <a:avLst/>
          </a:prstGeom>
          <a:solidFill>
            <a:srgbClr val="1E2F40"/>
          </a:solidFill>
          <a:ln w="9525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91440" cy="65836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16736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22529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143000" y="14813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JavaScript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0" y="135331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single-page interface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65760" y="1920240"/>
            <a:ext cx="8412480" cy="658368"/>
          </a:xfrm>
          <a:prstGeom prst="rect">
            <a:avLst/>
          </a:prstGeom>
          <a:solidFill>
            <a:srgbClr val="1E2F40"/>
          </a:solidFill>
          <a:ln w="9525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65760" y="1920240"/>
            <a:ext cx="91440" cy="65836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066544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43000" y="197510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1143000" y="223113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Chalice (Python)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572000" y="21031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endpoints: /upload, /results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365760" y="2670048"/>
            <a:ext cx="8412480" cy="658368"/>
          </a:xfrm>
          <a:prstGeom prst="rect">
            <a:avLst/>
          </a:prstGeom>
          <a:solidFill>
            <a:srgbClr val="1E2F40"/>
          </a:solidFill>
          <a:ln w="9525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365760" y="2670048"/>
            <a:ext cx="91440" cy="65836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816352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43000" y="272491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Services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1143000" y="298094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Rekognition + Translate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4572000" y="285292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detection &amp; multilingual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365760" y="3419856"/>
            <a:ext cx="8412480" cy="658368"/>
          </a:xfrm>
          <a:prstGeom prst="rect">
            <a:avLst/>
          </a:prstGeom>
          <a:solidFill>
            <a:srgbClr val="1E2F40"/>
          </a:solidFill>
          <a:ln w="9525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365760" y="3419856"/>
            <a:ext cx="91440" cy="65836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566160"/>
            <a:ext cx="347472" cy="34747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143000" y="34747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1143000" y="373075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 + DynamoDB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4572000" y="360273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hosting + metadata records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365760" y="4169664"/>
            <a:ext cx="8412480" cy="658368"/>
          </a:xfrm>
          <a:prstGeom prst="rect">
            <a:avLst/>
          </a:prstGeom>
          <a:solidFill>
            <a:srgbClr val="1E2F40"/>
          </a:solidFill>
          <a:ln w="9525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365760" y="4169664"/>
            <a:ext cx="91440" cy="65836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315968"/>
            <a:ext cx="347472" cy="34747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143000" y="422452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1143000" y="4480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Boto3 SDK</a:t>
            </a:r>
            <a:endParaRPr lang="en-US" sz="1400" dirty="0"/>
          </a:p>
        </p:txBody>
      </p:sp>
      <p:sp>
        <p:nvSpPr>
          <p:cNvPr id="34" name="Text 27"/>
          <p:cNvSpPr/>
          <p:nvPr/>
        </p:nvSpPr>
        <p:spPr>
          <a:xfrm>
            <a:off x="4572000" y="435254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service architecture</a:t>
            </a:r>
            <a:endParaRPr lang="en-US" sz="1200" dirty="0"/>
          </a:p>
        </p:txBody>
      </p:sp>
      <p:sp>
        <p:nvSpPr>
          <p:cNvPr id="35" name="Shape 28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DESIGN DOCUMENTS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</a:t>
            </a:r>
            <a:endParaRPr lang="en-US" sz="2600" dirty="0"/>
          </a:p>
        </p:txBody>
      </p:sp>
      <p:pic>
        <p:nvPicPr>
          <p:cNvPr id="5" name="Image 0" descr="/home/claude/Use_case_diagram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051560"/>
            <a:ext cx="5943600" cy="3200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83680" y="1188720"/>
            <a:ext cx="2286000" cy="749808"/>
          </a:xfrm>
          <a:prstGeom prst="rect">
            <a:avLst/>
          </a:prstGeom>
          <a:solidFill>
            <a:srgbClr val="1E2F4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720840" y="124358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720840" y="151790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product image (JPG/PNG)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583680" y="2103120"/>
            <a:ext cx="2286000" cy="749808"/>
          </a:xfrm>
          <a:prstGeom prst="rect">
            <a:avLst/>
          </a:prstGeom>
          <a:solidFill>
            <a:srgbClr val="1E2F4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720840" y="215798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UC-2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720840" y="243230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AI-detected product labels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583680" y="3017520"/>
            <a:ext cx="2286000" cy="749808"/>
          </a:xfrm>
          <a:prstGeom prst="rect">
            <a:avLst/>
          </a:prstGeom>
          <a:solidFill>
            <a:srgbClr val="1E2F4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720840" y="307238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UC-3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720840" y="334670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translations in KO, ES, FR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583680" y="3931920"/>
            <a:ext cx="2286000" cy="749808"/>
          </a:xfrm>
          <a:prstGeom prst="rect">
            <a:avLst/>
          </a:prstGeom>
          <a:solidFill>
            <a:srgbClr val="1E2F4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720840" y="398678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UC-4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720840" y="426110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previous upload history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DESIGN DOCUMENTS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/ Interaction Diagram</a:t>
            </a:r>
            <a:endParaRPr lang="en-US" sz="2600" dirty="0"/>
          </a:p>
        </p:txBody>
      </p:sp>
      <p:pic>
        <p:nvPicPr>
          <p:cNvPr id="5" name="Image 0" descr="/home/claude/Interaction_diagram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1051560"/>
            <a:ext cx="8778240" cy="3749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DESIGN DOCUMENTS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Mockup Flow</a:t>
            </a:r>
            <a:endParaRPr lang="en-US" sz="2600" dirty="0"/>
          </a:p>
        </p:txBody>
      </p:sp>
      <p:pic>
        <p:nvPicPr>
          <p:cNvPr id="5" name="Image 0" descr="/home/claude/UI_mockup_flow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05840"/>
            <a:ext cx="4114800" cy="3749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63440" y="1051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4663440" y="1545336"/>
            <a:ext cx="320040" cy="32004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663440" y="15270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74920" y="151790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Upload Page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74920" y="1773936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the web interface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663440" y="2130552"/>
            <a:ext cx="320040" cy="3200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663440" y="21122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074920" y="21031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Image File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074920" y="235915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 JPG or PNG product photo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663440" y="2715768"/>
            <a:ext cx="320040" cy="32004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663440" y="2697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074920" y="268833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Upload File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074920" y="294436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request sent to Chalice API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663440" y="3300984"/>
            <a:ext cx="320040" cy="3200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663440" y="328269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074920" y="32735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Detected Labels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074920" y="352958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AI-identified product categories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663440" y="3886200"/>
            <a:ext cx="320040" cy="32004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663440" y="38679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074920" y="385876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Translations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074920" y="41148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Korean, Spanish, French labels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4663440" y="4471416"/>
            <a:ext cx="320040" cy="3200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4663440" y="44531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074920" y="444398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History Section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5074920" y="4700016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results shown as record cards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DESIGN DOCUMENTS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Diagram</a:t>
            </a:r>
            <a:endParaRPr lang="en-US" sz="2600" dirty="0"/>
          </a:p>
        </p:txBody>
      </p:sp>
      <p:pic>
        <p:nvPicPr>
          <p:cNvPr id="5" name="Image 0" descr="/home/claude/Deployment_diagram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051560"/>
            <a:ext cx="8229600" cy="3657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IMPLEMENTATION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Structure &amp; API Endpoints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Backend Architecture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4023360" cy="402336"/>
          </a:xfrm>
          <a:prstGeom prst="rect">
            <a:avLst/>
          </a:prstGeom>
          <a:solidFill>
            <a:srgbClr val="1E2F40"/>
          </a:solidFill>
          <a:ln w="9525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88920" y="15727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Chalice entry point, routes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975104"/>
            <a:ext cx="4023360" cy="402336"/>
          </a:xfrm>
          <a:prstGeom prst="rect">
            <a:avLst/>
          </a:prstGeom>
          <a:solidFill>
            <a:srgbClr val="1E2F40"/>
          </a:solidFill>
          <a:ln w="9525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202082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catalog_service.py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88920" y="203911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orchestrator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441448"/>
            <a:ext cx="4023360" cy="402336"/>
          </a:xfrm>
          <a:prstGeom prst="rect">
            <a:avLst/>
          </a:prstGeom>
          <a:solidFill>
            <a:srgbClr val="1E2F40"/>
          </a:solidFill>
          <a:ln w="9525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24871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s3_service.py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88920" y="250545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upload to S3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907792"/>
            <a:ext cx="4023360" cy="402336"/>
          </a:xfrm>
          <a:prstGeom prst="rect">
            <a:avLst/>
          </a:prstGeom>
          <a:solidFill>
            <a:srgbClr val="1E2F40"/>
          </a:solidFill>
          <a:ln w="9525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29535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rekognition_service.py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88920" y="297180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detection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374136"/>
            <a:ext cx="4023360" cy="402336"/>
          </a:xfrm>
          <a:prstGeom prst="rect">
            <a:avLst/>
          </a:prstGeom>
          <a:solidFill>
            <a:srgbClr val="1E2F40"/>
          </a:solidFill>
          <a:ln w="9525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341985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translate_service.py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88920" y="343814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translation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840480"/>
            <a:ext cx="4023360" cy="402336"/>
          </a:xfrm>
          <a:prstGeom prst="rect">
            <a:avLst/>
          </a:prstGeom>
          <a:solidFill>
            <a:srgbClr val="1E2F40"/>
          </a:solidFill>
          <a:ln w="9525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3886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dynamodb_service.py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88920" y="390448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storage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306824"/>
            <a:ext cx="4023360" cy="402336"/>
          </a:xfrm>
          <a:prstGeom prst="rect">
            <a:avLst/>
          </a:prstGeom>
          <a:solidFill>
            <a:srgbClr val="1E2F40"/>
          </a:solidFill>
          <a:ln w="9525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2920" y="435254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config.py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788920" y="437083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63440" y="10972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Endpoints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663440" y="1508760"/>
            <a:ext cx="4114800" cy="566928"/>
          </a:xfrm>
          <a:prstGeom prst="rect">
            <a:avLst/>
          </a:prstGeom>
          <a:solidFill>
            <a:srgbClr val="1E2F40"/>
          </a:solidFill>
          <a:ln w="9525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663440" y="1508760"/>
            <a:ext cx="640080" cy="5669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663440" y="1508760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349240" y="156362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/health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49240" y="180136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health check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663440" y="2167128"/>
            <a:ext cx="4114800" cy="566928"/>
          </a:xfrm>
          <a:prstGeom prst="rect">
            <a:avLst/>
          </a:prstGeom>
          <a:solidFill>
            <a:srgbClr val="1E2F40"/>
          </a:solidFill>
          <a:ln w="9525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663440" y="2167128"/>
            <a:ext cx="640080" cy="5669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663440" y="2167128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349240" y="22219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/config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349240" y="2459736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configuration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663440" y="2825496"/>
            <a:ext cx="4114800" cy="566928"/>
          </a:xfrm>
          <a:prstGeom prst="rect">
            <a:avLst/>
          </a:prstGeom>
          <a:solidFill>
            <a:srgbClr val="1E2F40"/>
          </a:solidFill>
          <a:ln w="9525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663440" y="2825496"/>
            <a:ext cx="640080" cy="56692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663440" y="2825496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349240" y="28803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/upload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349240" y="311810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&amp; analyze image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663440" y="3483864"/>
            <a:ext cx="4114800" cy="566928"/>
          </a:xfrm>
          <a:prstGeom prst="rect">
            <a:avLst/>
          </a:prstGeom>
          <a:solidFill>
            <a:srgbClr val="1E2F40"/>
          </a:solidFill>
          <a:ln w="9525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663440" y="3483864"/>
            <a:ext cx="640080" cy="5669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663440" y="3483864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349240" y="35387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/results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5349240" y="377647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history from DynamoDB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663440" y="4251960"/>
            <a:ext cx="4114800" cy="502920"/>
          </a:xfrm>
          <a:prstGeom prst="rect">
            <a:avLst/>
          </a:prstGeom>
          <a:solidFill>
            <a:srgbClr val="0D1117"/>
          </a:solidFill>
          <a:ln w="1905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4315968"/>
            <a:ext cx="320040" cy="320040"/>
          </a:xfrm>
          <a:prstGeom prst="rect">
            <a:avLst/>
          </a:prstGeom>
        </p:spPr>
      </p:pic>
      <p:sp>
        <p:nvSpPr>
          <p:cNvPr id="50" name="Text 47"/>
          <p:cNvSpPr/>
          <p:nvPr/>
        </p:nvSpPr>
        <p:spPr>
          <a:xfrm>
            <a:off x="5166360" y="431596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github.com/iamktw90/COMP264_Final-Project_Group-4</a:t>
            </a:r>
            <a:endParaRPr lang="en-US" sz="950" dirty="0"/>
          </a:p>
        </p:txBody>
      </p:sp>
      <p:sp>
        <p:nvSpPr>
          <p:cNvPr id="51" name="Shape 48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IMPLEMENTATION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Flow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2651760" cy="1508760"/>
          </a:xfrm>
          <a:prstGeom prst="rect">
            <a:avLst/>
          </a:prstGeom>
          <a:solidFill>
            <a:srgbClr val="1E2F40"/>
          </a:solidFill>
          <a:ln w="19050">
            <a:solidFill>
              <a:srgbClr val="FF9900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29768" y="1344168"/>
            <a:ext cx="411480" cy="41148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29768" y="1325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3716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Upload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1856232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selected in browser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to base64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971800" y="1984248"/>
            <a:ext cx="228600" cy="0"/>
          </a:xfrm>
          <a:prstGeom prst="line">
            <a:avLst/>
          </a:prstGeom>
          <a:noFill/>
          <a:ln w="1905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0" y="1234440"/>
            <a:ext cx="2651760" cy="1508760"/>
          </a:xfrm>
          <a:prstGeom prst="rect">
            <a:avLst/>
          </a:prstGeom>
          <a:solidFill>
            <a:srgbClr val="1E2F40"/>
          </a:solidFill>
          <a:ln w="19050">
            <a:solidFill>
              <a:srgbClr val="00A896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310128" y="1344168"/>
            <a:ext cx="411480" cy="4114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10128" y="1325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94760" y="13716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Processing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337560" y="1856232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/upload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Chalice validates request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852160" y="1984248"/>
            <a:ext cx="22860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080760" y="1234440"/>
            <a:ext cx="2651760" cy="1508760"/>
          </a:xfrm>
          <a:prstGeom prst="rect">
            <a:avLst/>
          </a:prstGeom>
          <a:solidFill>
            <a:srgbClr val="1E2F40"/>
          </a:solidFill>
          <a:ln w="19050">
            <a:solidFill>
              <a:srgbClr val="FF9900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90488" y="1344168"/>
            <a:ext cx="411480" cy="41148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90488" y="1325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75120" y="13716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Storage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217920" y="1856232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uploaded to S3 bucket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generated for record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0040" y="2971800"/>
            <a:ext cx="2651760" cy="1508760"/>
          </a:xfrm>
          <a:prstGeom prst="rect">
            <a:avLst/>
          </a:prstGeom>
          <a:solidFill>
            <a:srgbClr val="1E2F40"/>
          </a:solidFill>
          <a:ln w="19050">
            <a:solidFill>
              <a:srgbClr val="00A896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29768" y="3081528"/>
            <a:ext cx="411480" cy="4114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29768" y="3063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14400" y="310896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Detection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57200" y="3593592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Rekognition detects labels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threshold applied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971800" y="3721608"/>
            <a:ext cx="22860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200400" y="2971800"/>
            <a:ext cx="2651760" cy="1508760"/>
          </a:xfrm>
          <a:prstGeom prst="rect">
            <a:avLst/>
          </a:prstGeom>
          <a:solidFill>
            <a:srgbClr val="1E2F40"/>
          </a:solidFill>
          <a:ln w="19050">
            <a:solidFill>
              <a:srgbClr val="FF9900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310128" y="3081528"/>
            <a:ext cx="411480" cy="41148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310128" y="3063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794760" y="310896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3337560" y="3593592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translated to: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 · ES · FR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852160" y="3721608"/>
            <a:ext cx="228600" cy="0"/>
          </a:xfrm>
          <a:prstGeom prst="line">
            <a:avLst/>
          </a:prstGeom>
          <a:noFill/>
          <a:ln w="1905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080760" y="2971800"/>
            <a:ext cx="2651760" cy="1508760"/>
          </a:xfrm>
          <a:prstGeom prst="rect">
            <a:avLst/>
          </a:prstGeom>
          <a:solidFill>
            <a:srgbClr val="1E2F40"/>
          </a:solidFill>
          <a:ln w="19050">
            <a:solidFill>
              <a:srgbClr val="00A896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190488" y="3081528"/>
            <a:ext cx="411480" cy="4114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190488" y="3063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675120" y="310896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&amp; Return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6217920" y="3593592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record saved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returned to frontend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DEMO &amp; TESTING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Application Results</a:t>
            </a:r>
            <a:endParaRPr lang="en-US" sz="2600" dirty="0"/>
          </a:p>
        </p:txBody>
      </p:sp>
      <p:pic>
        <p:nvPicPr>
          <p:cNvPr id="5" name="Image 0" descr="/home/claude/app_screensho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05840"/>
            <a:ext cx="4389120" cy="3749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0" y="10515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29200" y="1508760"/>
            <a:ext cx="3749040" cy="713232"/>
          </a:xfrm>
          <a:prstGeom prst="rect">
            <a:avLst/>
          </a:prstGeom>
          <a:solidFill>
            <a:srgbClr val="1E2F40"/>
          </a:solidFill>
          <a:ln w="9525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120640" y="1691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0" y="156362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Handbag / Bag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0" y="187452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Labels: Accessories, Bag, Handbag, Purse, Tote Bag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029200" y="2331720"/>
            <a:ext cx="3749040" cy="713232"/>
          </a:xfrm>
          <a:prstGeom prst="rect">
            <a:avLst/>
          </a:prstGeom>
          <a:solidFill>
            <a:srgbClr val="1E2F40"/>
          </a:solidFill>
          <a:ln w="9525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120640" y="2514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486400" y="238658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Phone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486400" y="269748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Labels: Electronics, Phone, Mobile Phone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029200" y="3154680"/>
            <a:ext cx="3749040" cy="713232"/>
          </a:xfrm>
          <a:prstGeom prst="rect">
            <a:avLst/>
          </a:prstGeom>
          <a:solidFill>
            <a:srgbClr val="1E2F40"/>
          </a:solidFill>
          <a:ln w="9525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120640" y="3337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486400" y="320954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486400" y="352044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Labels: Footwear, Shoe, Running Shoe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029200" y="3977640"/>
            <a:ext cx="3749040" cy="713232"/>
          </a:xfrm>
          <a:prstGeom prst="rect">
            <a:avLst/>
          </a:prstGeom>
          <a:solidFill>
            <a:srgbClr val="1E2F40"/>
          </a:solidFill>
          <a:ln w="9525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120640" y="4160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5486400" y="403250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486400" y="434340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Labels: Bottle, Drink, Beverage Container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029200" y="4800600"/>
            <a:ext cx="3749040" cy="1828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029200" y="480060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labels translated to Korean · Spanish · French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9900"/>
                </a:solidFill>
                <a:latin typeface="Calibri"/>
              </a:rPr>
              <a:t>04  IMPLEMENTATION — NEW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Document Upload: DOCX &amp; PDF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CA0B3"/>
                </a:solidFill>
                <a:latin typeface="Calibri"/>
              </a:rPr>
              <a:t>The app now accepts DOCX and PDF files in addition to product images.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A896"/>
                </a:solidFill>
                <a:latin typeface="Calibri"/>
              </a:rPr>
              <a:t>How It Works</a:t>
            </a:r>
          </a:p>
        </p:txBody>
      </p:sp>
      <p:sp>
        <p:nvSpPr>
          <p:cNvPr id="7" name="Oval 6"/>
          <p:cNvSpPr/>
          <p:nvPr/>
        </p:nvSpPr>
        <p:spPr>
          <a:xfrm>
            <a:off x="384048" y="1965960"/>
            <a:ext cx="347472" cy="347472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194767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20239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User selects a DOCX or PDF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48839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CA0B3"/>
                </a:solidFill>
                <a:latin typeface="Calibri"/>
              </a:rPr>
              <a:t>Via the file chooser on the upload page</a:t>
            </a:r>
          </a:p>
        </p:txBody>
      </p:sp>
      <p:sp>
        <p:nvSpPr>
          <p:cNvPr id="11" name="Oval 10"/>
          <p:cNvSpPr/>
          <p:nvPr/>
        </p:nvSpPr>
        <p:spPr>
          <a:xfrm>
            <a:off x="384048" y="2532888"/>
            <a:ext cx="347472" cy="347472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4048" y="251460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48716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File sent to Chalice REST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715768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CA0B3"/>
                </a:solidFill>
                <a:latin typeface="Calibri"/>
              </a:rPr>
              <a:t>POST /upload — detects file type automatically</a:t>
            </a:r>
          </a:p>
        </p:txBody>
      </p:sp>
      <p:sp>
        <p:nvSpPr>
          <p:cNvPr id="15" name="Oval 14"/>
          <p:cNvSpPr/>
          <p:nvPr/>
        </p:nvSpPr>
        <p:spPr>
          <a:xfrm>
            <a:off x="384048" y="3099816"/>
            <a:ext cx="347472" cy="347472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4048" y="308152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05409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Text extracted from document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282696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CA0B3"/>
                </a:solidFill>
                <a:latin typeface="Calibri"/>
              </a:rPr>
              <a:t>DOCX via python-docx · PDF via PyMuPDF</a:t>
            </a:r>
          </a:p>
        </p:txBody>
      </p:sp>
      <p:sp>
        <p:nvSpPr>
          <p:cNvPr id="19" name="Oval 18"/>
          <p:cNvSpPr/>
          <p:nvPr/>
        </p:nvSpPr>
        <p:spPr>
          <a:xfrm>
            <a:off x="384048" y="3666744"/>
            <a:ext cx="347472" cy="347472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84048" y="364845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621023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Extracted text analyzed by Rekognition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849624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CA0B3"/>
                </a:solidFill>
                <a:latin typeface="Calibri"/>
              </a:rPr>
              <a:t>Key terms identified as product labels</a:t>
            </a:r>
          </a:p>
        </p:txBody>
      </p:sp>
      <p:sp>
        <p:nvSpPr>
          <p:cNvPr id="23" name="Oval 22"/>
          <p:cNvSpPr/>
          <p:nvPr/>
        </p:nvSpPr>
        <p:spPr>
          <a:xfrm>
            <a:off x="384048" y="4233671"/>
            <a:ext cx="347472" cy="347472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84048" y="4215383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187951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Labels translated &amp; stored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416551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CA0B3"/>
                </a:solidFill>
                <a:latin typeface="Calibri"/>
              </a:rPr>
              <a:t>Same pipeline as image uploads — DynamoDB + S3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14630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A896"/>
                </a:solidFill>
                <a:latin typeface="Calibri"/>
              </a:rPr>
              <a:t>Supported Formats &amp; Capabilities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63440" y="1828800"/>
            <a:ext cx="4114800" cy="932688"/>
          </a:xfrm>
          <a:prstGeom prst="rect">
            <a:avLst/>
          </a:prstGeom>
          <a:solidFill>
            <a:srgbClr val="1E2F40"/>
          </a:solidFill>
          <a:ln w="1524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663440" y="1828800"/>
            <a:ext cx="91440" cy="93268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828032" y="1883664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900"/>
                </a:solidFill>
                <a:latin typeface="Calibri"/>
              </a:rPr>
              <a:t>📄  DOCX Files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28032" y="2130552"/>
            <a:ext cx="3749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Microsoft Word documents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28032" y="233172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CA0B3"/>
                </a:solidFill>
                <a:latin typeface="Calibri"/>
              </a:rPr>
              <a:t>Text extracted page by page using python-docx. Headings and body text are parsed into analyzable content.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63440" y="2880360"/>
            <a:ext cx="4114800" cy="932688"/>
          </a:xfrm>
          <a:prstGeom prst="rect">
            <a:avLst/>
          </a:prstGeom>
          <a:solidFill>
            <a:srgbClr val="1E2F40"/>
          </a:solidFill>
          <a:ln w="1524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663440" y="2880360"/>
            <a:ext cx="91440" cy="93268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828032" y="2935224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896"/>
                </a:solidFill>
                <a:latin typeface="Calibri"/>
              </a:rPr>
              <a:t>📑  PDF Files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28032" y="3182112"/>
            <a:ext cx="3749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Portable Document Format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28032" y="338328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CA0B3"/>
                </a:solidFill>
                <a:latin typeface="Calibri"/>
              </a:rPr>
              <a:t>PDF text extracted using PyMuPDF (fitz). Scanned PDFs with embedded text are fully supported.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63440" y="3931920"/>
            <a:ext cx="4114800" cy="932688"/>
          </a:xfrm>
          <a:prstGeom prst="rect">
            <a:avLst/>
          </a:prstGeom>
          <a:solidFill>
            <a:srgbClr val="1E2F40"/>
          </a:solidFill>
          <a:ln w="1524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663440" y="3931920"/>
            <a:ext cx="91440" cy="93268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828032" y="3986783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900"/>
                </a:solidFill>
                <a:latin typeface="Calibri"/>
              </a:rPr>
              <a:t>🖼️  Images (existing)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28032" y="4233672"/>
            <a:ext cx="3749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JPG / PNG product photos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28032" y="443484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CA0B3"/>
                </a:solidFill>
                <a:latin typeface="Calibri"/>
              </a:rPr>
              <a:t>Original image upload pipeline unchanged. All three modes share the same translation and storage logic.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DEMO &amp; TESTING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Service Verification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4114800" cy="1572768"/>
          </a:xfrm>
          <a:prstGeom prst="rect">
            <a:avLst/>
          </a:prstGeom>
          <a:solidFill>
            <a:srgbClr val="1E2F40"/>
          </a:solidFill>
          <a:ln w="12700">
            <a:solidFill>
              <a:srgbClr val="00A896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444752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38988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16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828800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1810512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images successfully uploaded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generated per image record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4846320" y="1280160"/>
            <a:ext cx="4114800" cy="1572768"/>
          </a:xfrm>
          <a:prstGeom prst="rect">
            <a:avLst/>
          </a:prstGeom>
          <a:solidFill>
            <a:srgbClr val="1E2F40"/>
          </a:solidFill>
          <a:ln w="12700">
            <a:solidFill>
              <a:srgbClr val="00A896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0912" y="1444752"/>
            <a:ext cx="502920" cy="5029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623560" y="138988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Rekognition</a:t>
            </a:r>
            <a:endParaRPr lang="en-US" sz="16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1828800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943600" y="1810512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detected with confidence scores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logic for edge cases</a:t>
            </a:r>
            <a:endParaRPr lang="en-US" sz="1150" dirty="0"/>
          </a:p>
        </p:txBody>
      </p:sp>
      <p:sp>
        <p:nvSpPr>
          <p:cNvPr id="15" name="Shape 9"/>
          <p:cNvSpPr/>
          <p:nvPr/>
        </p:nvSpPr>
        <p:spPr>
          <a:xfrm>
            <a:off x="365760" y="3108960"/>
            <a:ext cx="4114800" cy="1572768"/>
          </a:xfrm>
          <a:prstGeom prst="rect">
            <a:avLst/>
          </a:prstGeom>
          <a:solidFill>
            <a:srgbClr val="1E2F40"/>
          </a:solidFill>
          <a:ln w="12700">
            <a:solidFill>
              <a:srgbClr val="00A896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" y="3273552"/>
            <a:ext cx="502920" cy="50292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43000" y="321868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Translate</a:t>
            </a:r>
            <a:endParaRPr lang="en-US" sz="16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3657600"/>
            <a:ext cx="256032" cy="25603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463040" y="3639312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translated to KO, ES, FR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languages returned in JSON</a:t>
            </a:r>
            <a:endParaRPr lang="en-US" sz="1150" dirty="0"/>
          </a:p>
        </p:txBody>
      </p:sp>
      <p:sp>
        <p:nvSpPr>
          <p:cNvPr id="20" name="Shape 12"/>
          <p:cNvSpPr/>
          <p:nvPr/>
        </p:nvSpPr>
        <p:spPr>
          <a:xfrm>
            <a:off x="4846320" y="3108960"/>
            <a:ext cx="4114800" cy="1572768"/>
          </a:xfrm>
          <a:prstGeom prst="rect">
            <a:avLst/>
          </a:prstGeom>
          <a:solidFill>
            <a:srgbClr val="1E2F40"/>
          </a:solidFill>
          <a:ln w="12700">
            <a:solidFill>
              <a:srgbClr val="00A896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0912" y="3273552"/>
            <a:ext cx="502920" cy="50292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623560" y="321868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DynamoDB</a:t>
            </a:r>
            <a:endParaRPr lang="en-US" sz="160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3657600"/>
            <a:ext cx="256032" cy="256032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5943600" y="3639312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records saved and retrieved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accessible via /results API</a:t>
            </a:r>
            <a:endParaRPr lang="en-US" sz="1150" dirty="0"/>
          </a:p>
        </p:txBody>
      </p:sp>
      <p:sp>
        <p:nvSpPr>
          <p:cNvPr id="25" name="Shape 15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DESIGN DOCUMENTS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60520" cy="1078992"/>
          </a:xfrm>
          <a:prstGeom prst="rect">
            <a:avLst/>
          </a:prstGeom>
          <a:solidFill>
            <a:srgbClr val="1E2F4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91440" cy="107899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via Chalice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67335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server management, enables auto-scaling, aligns with FaaS architecture required.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234440"/>
            <a:ext cx="4160520" cy="1078992"/>
          </a:xfrm>
          <a:prstGeom prst="rect">
            <a:avLst/>
          </a:prstGeom>
          <a:solidFill>
            <a:srgbClr val="1E2F40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00600" y="1234440"/>
            <a:ext cx="91440" cy="10789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83480" y="1325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Concerns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83480" y="167335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service (S3, Rekognition, Translate, DynamoDB) is encapsulated in its own module.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468880"/>
            <a:ext cx="4160520" cy="1078992"/>
          </a:xfrm>
          <a:prstGeom prst="rect">
            <a:avLst/>
          </a:prstGeom>
          <a:solidFill>
            <a:srgbClr val="1E2F4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2468880"/>
            <a:ext cx="91440" cy="107899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25603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AI (no training)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290779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Rekognition requires no custom training, reducing development time and cost.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2468880"/>
            <a:ext cx="4160520" cy="1078992"/>
          </a:xfrm>
          <a:prstGeom prst="rect">
            <a:avLst/>
          </a:prstGeom>
          <a:solidFill>
            <a:srgbClr val="1E2F40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800600" y="2468880"/>
            <a:ext cx="91440" cy="10789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83480" y="25603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over RDS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83480" y="290779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suits metadata records; fast, schema-flexible, serverless-native storage.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703320"/>
            <a:ext cx="4160520" cy="1078992"/>
          </a:xfrm>
          <a:prstGeom prst="rect">
            <a:avLst/>
          </a:prstGeom>
          <a:solidFill>
            <a:srgbClr val="1E2F4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5760" y="3703320"/>
            <a:ext cx="91440" cy="107899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" y="37947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 Image Encoding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414223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direct image transfer in REST JSON payload without file upload complexity.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00600" y="3703320"/>
            <a:ext cx="4160520" cy="1078992"/>
          </a:xfrm>
          <a:prstGeom prst="rect">
            <a:avLst/>
          </a:prstGeom>
          <a:solidFill>
            <a:srgbClr val="1E2F40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00600" y="3703320"/>
            <a:ext cx="91440" cy="10789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83480" y="37947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Translation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83480" y="414223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Korean, Spanish, French cover 3 of the top 5 global e-commerce markets.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FUTURE 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Enhancements &amp; Roadmap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2743200" cy="1572768"/>
          </a:xfrm>
          <a:prstGeom prst="rect">
            <a:avLst/>
          </a:prstGeom>
          <a:solidFill>
            <a:srgbClr val="1E2F40"/>
          </a:solidFill>
          <a:ln w="12700">
            <a:solidFill>
              <a:srgbClr val="FF9900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173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3716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Deployment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1929384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via AWS API Gateway + Lambda with custom domain for real users.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64408" y="1234440"/>
            <a:ext cx="2743200" cy="1572768"/>
          </a:xfrm>
          <a:prstGeom prst="rect">
            <a:avLst/>
          </a:prstGeom>
          <a:solidFill>
            <a:srgbClr val="1E2F40"/>
          </a:solidFill>
          <a:ln w="12700">
            <a:solidFill>
              <a:srgbClr val="00A896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141732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904488" y="13716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Accuracy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401568" y="1929384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confidence thresholding and fine-tune label filtering per product category.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208776" y="1234440"/>
            <a:ext cx="2743200" cy="1572768"/>
          </a:xfrm>
          <a:prstGeom prst="rect">
            <a:avLst/>
          </a:prstGeom>
          <a:solidFill>
            <a:srgbClr val="1E2F40"/>
          </a:solidFill>
          <a:ln w="12700">
            <a:solidFill>
              <a:srgbClr val="FF9900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5936" y="141732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848856" y="13716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Languages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345936" y="1929384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translations to Japanese, Portuguese, Arabic and other global markets.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320040" y="3017520"/>
            <a:ext cx="2743200" cy="1572768"/>
          </a:xfrm>
          <a:prstGeom prst="rect">
            <a:avLst/>
          </a:prstGeom>
          <a:solidFill>
            <a:srgbClr val="1E2F40"/>
          </a:solidFill>
          <a:ln w="12700">
            <a:solidFill>
              <a:srgbClr val="00A896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200400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60120" y="315468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Recommendations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457200" y="3712464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detected labels to suggest similar products from a catalog database.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3264408" y="3017520"/>
            <a:ext cx="2743200" cy="1572768"/>
          </a:xfrm>
          <a:prstGeom prst="rect">
            <a:avLst/>
          </a:prstGeom>
          <a:solidFill>
            <a:srgbClr val="1E2F40"/>
          </a:solidFill>
          <a:ln w="12700">
            <a:solidFill>
              <a:srgbClr val="FF9900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01568" y="3200400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904488" y="315468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3401568" y="3712464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Cognito-based user auth for personalized history and multi-user isolation.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6208776" y="3017520"/>
            <a:ext cx="2743200" cy="1572768"/>
          </a:xfrm>
          <a:prstGeom prst="rect">
            <a:avLst/>
          </a:prstGeom>
          <a:solidFill>
            <a:srgbClr val="1E2F40"/>
          </a:solidFill>
          <a:ln w="12700">
            <a:solidFill>
              <a:srgbClr val="00A896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45936" y="3200400"/>
            <a:ext cx="411480" cy="41148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848856" y="315468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Estimation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6345936" y="3712464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market pricing API to auto-generate product price suggestions.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9144000" cy="1828800"/>
          </a:xfrm>
          <a:prstGeom prst="rect">
            <a:avLst/>
          </a:prstGeom>
          <a:solidFill>
            <a:srgbClr val="091520"/>
          </a:solidFill>
          <a:ln w="12700">
            <a:solidFill>
              <a:srgbClr val="0915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65760" y="2148840"/>
            <a:ext cx="4160520" cy="1143000"/>
          </a:xfrm>
          <a:prstGeom prst="rect">
            <a:avLst/>
          </a:prstGeom>
          <a:solidFill>
            <a:srgbClr val="1E2F40"/>
          </a:solidFill>
          <a:ln w="12700">
            <a:solidFill>
              <a:srgbClr val="00A896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46888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78992" y="224028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Working App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78992" y="26517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backend + frontend tested with 9 product types.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800600" y="2148840"/>
            <a:ext cx="4160520" cy="1143000"/>
          </a:xfrm>
          <a:prstGeom prst="rect">
            <a:avLst/>
          </a:prstGeom>
          <a:solidFill>
            <a:srgbClr val="1E2F40"/>
          </a:solidFill>
          <a:ln w="12700">
            <a:solidFill>
              <a:srgbClr val="00A896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246888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13832" y="224028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AWS Services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513832" y="26517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S3, Rekognition, Translate, DynamoDB — all integrated.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65760" y="3474720"/>
            <a:ext cx="4160520" cy="1143000"/>
          </a:xfrm>
          <a:prstGeom prst="rect">
            <a:avLst/>
          </a:prstGeom>
          <a:solidFill>
            <a:srgbClr val="1E2F40"/>
          </a:solidFill>
          <a:ln w="12700">
            <a:solidFill>
              <a:srgbClr val="00A896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379476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78992" y="356616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Languages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078992" y="39776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Korean, Spanish, French translations via Amazon Translate.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800600" y="3474720"/>
            <a:ext cx="4160520" cy="1143000"/>
          </a:xfrm>
          <a:prstGeom prst="rect">
            <a:avLst/>
          </a:prstGeom>
          <a:solidFill>
            <a:srgbClr val="1E2F40"/>
          </a:solidFill>
          <a:ln w="12700">
            <a:solidFill>
              <a:srgbClr val="00A896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5192" y="3794760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513832" y="356616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Code Architecture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5513832" y="39776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Modular, documented, following separation of concerns.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2286000" y="4754880"/>
            <a:ext cx="4572000" cy="256032"/>
          </a:xfrm>
          <a:prstGeom prst="rect">
            <a:avLst/>
          </a:prstGeom>
          <a:solidFill>
            <a:srgbClr val="0D1117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2286000" y="47548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github.com/iamktw90/COMP264_Final-Project_Group-4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1089</Words>
  <Application>Microsoft Office PowerPoint</Application>
  <PresentationFormat>On-screen Show (16:9)</PresentationFormat>
  <Paragraphs>272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Universal AI-Powered Product Identification</dc:title>
  <dc:subject>PptxGenJS Presentation</dc:subject>
  <dc:creator>PptxGenJS</dc:creator>
  <cp:lastModifiedBy>Syed Taimoor Hussain</cp:lastModifiedBy>
  <cp:revision>1</cp:revision>
  <dcterms:created xsi:type="dcterms:W3CDTF">2026-04-12T21:23:34Z</dcterms:created>
  <dcterms:modified xsi:type="dcterms:W3CDTF">2026-04-19T23:42:25Z</dcterms:modified>
</cp:coreProperties>
</file>